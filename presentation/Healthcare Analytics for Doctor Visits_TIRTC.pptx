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41" r:id="rId8"/>
    <p:sldId id="329" r:id="rId9"/>
    <p:sldId id="302" r:id="rId10"/>
    <p:sldId id="339" r:id="rId11"/>
    <p:sldId id="340" r:id="rId12"/>
    <p:sldId id="342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-240" y="-168"/>
      </p:cViewPr>
      <p:guideLst>
        <p:guide orient="horz" pos="1968"/>
        <p:guide orient="horz" pos="3912"/>
        <p:guide orient="horz" pos="1656"/>
        <p:guide pos="408"/>
        <p:guide pos="7272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222222"/>
                </a:solidFill>
              </a:rPr>
              <a:t>Avg visits by no. of recent illnesses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1B6CA8"/>
            </a:solidFill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</c:v>
                </c:pt>
                <c:pt idx="1">
                  <c:v>0.3</c:v>
                </c:pt>
                <c:pt idx="2">
                  <c:v>0.4</c:v>
                </c:pt>
                <c:pt idx="3">
                  <c:v>0.42</c:v>
                </c:pt>
                <c:pt idx="4">
                  <c:v>0.57999999999999996</c:v>
                </c:pt>
                <c:pt idx="5">
                  <c:v>0.81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65110272"/>
        <c:axId val="265111808"/>
      </c:barChart>
      <c:catAx>
        <c:axId val="26511027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265111808"/>
        <c:crosses val="autoZero"/>
        <c:auto val="1"/>
        <c:lblAlgn val="ctr"/>
        <c:lblOffset val="100"/>
        <c:noMultiLvlLbl val="0"/>
      </c:catAx>
      <c:valAx>
        <c:axId val="26511180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6511027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222222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222222"/>
                </a:solidFill>
              </a:rPr>
              <a:t>% who saw a doctor, by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visited</c:v>
                </c:pt>
              </c:strCache>
            </c:strRef>
          </c:tx>
          <c:spPr>
            <a:solidFill>
              <a:srgbClr val="2E9E5B"/>
            </a:solidFill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Female</c:v>
                </c:pt>
                <c:pt idx="1">
                  <c:v>Male</c:v>
                </c:pt>
                <c:pt idx="2">
                  <c:v>Age 60+</c:v>
                </c:pt>
                <c:pt idx="3">
                  <c:v>Age under 25</c:v>
                </c:pt>
                <c:pt idx="4">
                  <c:v>Limiting chronic</c:v>
                </c:pt>
                <c:pt idx="5">
                  <c:v>Free (veterans)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24.4</c:v>
                </c:pt>
                <c:pt idx="1">
                  <c:v>15.6</c:v>
                </c:pt>
                <c:pt idx="2">
                  <c:v>28.9</c:v>
                </c:pt>
                <c:pt idx="3">
                  <c:v>14.7</c:v>
                </c:pt>
                <c:pt idx="4">
                  <c:v>35</c:v>
                </c:pt>
                <c:pt idx="5">
                  <c:v>31.6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65439872"/>
        <c:axId val="265445760"/>
      </c:barChart>
      <c:catAx>
        <c:axId val="265439872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265445760"/>
        <c:crosses val="autoZero"/>
        <c:auto val="1"/>
        <c:lblAlgn val="ctr"/>
        <c:lblOffset val="100"/>
        <c:noMultiLvlLbl val="0"/>
      </c:catAx>
      <c:valAx>
        <c:axId val="26544576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26543987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222222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title>
      <c:tx>
        <c:rich>
          <a:bodyPr/>
          <a:lstStyle/>
          <a:p>
            <a:r>
              <a:rPr lang="en-IN" sz="1300" b="1">
                <a:solidFill>
                  <a:srgbClr val="222222"/>
                </a:solidFill>
              </a:rPr>
              <a:t>Random forest: top predictors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B6CA8"/>
            </a:solidFill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Reduced-activity days</c:v>
                </c:pt>
                <c:pt idx="1">
                  <c:v>Recent illnesses</c:v>
                </c:pt>
                <c:pt idx="2">
                  <c:v>Age</c:v>
                </c:pt>
                <c:pt idx="3">
                  <c:v>Health score</c:v>
                </c:pt>
                <c:pt idx="4">
                  <c:v>Income</c:v>
                </c:pt>
                <c:pt idx="5">
                  <c:v>Gender</c:v>
                </c:pt>
                <c:pt idx="6">
                  <c:v>Limiting chronic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0.33800000000000002</c:v>
                </c:pt>
                <c:pt idx="1">
                  <c:v>0.23300000000000001</c:v>
                </c:pt>
                <c:pt idx="2">
                  <c:v>0.121</c:v>
                </c:pt>
                <c:pt idx="3">
                  <c:v>8.2000000000000003E-2</c:v>
                </c:pt>
                <c:pt idx="4">
                  <c:v>6.8000000000000005E-2</c:v>
                </c:pt>
                <c:pt idx="5">
                  <c:v>3.9E-2</c:v>
                </c:pt>
                <c:pt idx="6">
                  <c:v>3.3000000000000002E-2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65472256"/>
        <c:axId val="267141120"/>
      </c:barChart>
      <c:catAx>
        <c:axId val="26547225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267141120"/>
        <c:crosses val="autoZero"/>
        <c:auto val="1"/>
        <c:lblAlgn val="ctr"/>
        <c:lblOffset val="100"/>
        <c:noMultiLvlLbl val="0"/>
      </c:catAx>
      <c:valAx>
        <c:axId val="26714112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26547225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222222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github.com/Anjali-55555/healthcare_analysis_for_doctor_visits" TargetMode="Externa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Anjali-55555/healthcare_analysis_for_doctor_visit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jali-55555/healthcare_analysis_for_doctor_visit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11271" y="3449758"/>
            <a:ext cx="3383280" cy="411480"/>
          </a:xfrm>
        </p:spPr>
        <p:txBody>
          <a:bodyPr/>
          <a:lstStyle/>
          <a:p>
            <a:pPr algn="l"/>
            <a:r>
              <a:rPr lang="en-IN" b="0" dirty="0" err="1" smtClean="0">
                <a:solidFill>
                  <a:schemeClr val="tx1"/>
                </a:solidFill>
              </a:rPr>
              <a:t>Kanneboyina</a:t>
            </a:r>
            <a:r>
              <a:rPr lang="en-IN" b="0" dirty="0" smtClean="0">
                <a:solidFill>
                  <a:schemeClr val="tx1"/>
                </a:solidFill>
              </a:rPr>
              <a:t> </a:t>
            </a:r>
            <a:r>
              <a:rPr lang="en-IN" b="0" dirty="0" err="1" smtClean="0">
                <a:solidFill>
                  <a:schemeClr val="tx1"/>
                </a:solidFill>
              </a:rPr>
              <a:t>Premanjali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0" y="1737360"/>
            <a:ext cx="3383280" cy="1920240"/>
          </a:xfrm>
        </p:spPr>
        <p:txBody>
          <a:bodyPr wrap="square">
            <a:normAutofit/>
          </a:bodyPr>
          <a:lstStyle/>
          <a:p>
            <a:r>
              <a:rPr sz="2600" b="1"/>
              <a:t>Healthcare Analytics for Doctor Visits_TIRTC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7680960" cy="790111"/>
          </a:xfrm>
        </p:spPr>
        <p:txBody>
          <a:bodyPr>
            <a:normAutofit fontScale="90000"/>
          </a:bodyPr>
          <a:lstStyle/>
          <a:p>
            <a:r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777240" y="2176272"/>
            <a:ext cx="347472" cy="347472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103120"/>
            <a:ext cx="5486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Uneven demand. </a:t>
            </a:r>
            <a:r>
              <a:rPr sz="1600" b="0">
                <a:solidFill>
                  <a:srgbClr val="222222"/>
                </a:solidFill>
              </a:rPr>
              <a:t>Only 20.2% of the 5,190 people surveyed saw a doctor in the past two weeks, so visits are concentrated in a small group.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456432"/>
            <a:ext cx="347472" cy="347472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383279"/>
            <a:ext cx="5486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Unclear drivers. </a:t>
            </a:r>
            <a:r>
              <a:rPr sz="1600" b="0">
                <a:solidFill>
                  <a:srgbClr val="222222"/>
                </a:solidFill>
              </a:rPr>
              <a:t>Planners cannot easily tell how age, income, recent illness, insurance and chronic conditions each affect who visits.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736592"/>
            <a:ext cx="347472" cy="347472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5486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Our goal. </a:t>
            </a:r>
            <a:r>
              <a:rPr sz="1600" b="0">
                <a:solidFill>
                  <a:srgbClr val="222222"/>
                </a:solidFill>
              </a:rPr>
              <a:t>Analyse the survey data, find the key drivers of doctor visits, and predict who is likely to visit.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7680960" cy="830997"/>
          </a:xfrm>
        </p:spPr>
        <p:txBody>
          <a:bodyPr>
            <a:normAutofit/>
          </a:bodyPr>
          <a:lstStyle/>
          <a:p>
            <a:r>
              <a:rPr sz="3200" b="1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011680"/>
            <a:ext cx="58521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Analysis of the Australian Health Survey 1977-78 (the DoctorVisits dataset): 5,190 individuals, 12 variables, no missing values. We explore visit patterns and build models that predict whether a person visits a doctor.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374903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3319272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64408"/>
            <a:ext cx="306324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Data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3429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Dropped the index column and encoded gender and the yes/no flags as 0/1.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154680"/>
            <a:ext cx="374903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00600" y="3319272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264408"/>
            <a:ext cx="306324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Exploratory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794760"/>
            <a:ext cx="3429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Compared visit rates by age, income, illness, insurance and chronic condition.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374903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4828031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773168"/>
            <a:ext cx="306324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Predictive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3429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Logistic regression and random forest on a 75/25 train-test split.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663440"/>
            <a:ext cx="374903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800600" y="4828031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773168"/>
            <a:ext cx="306324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Visit-count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303520"/>
            <a:ext cx="34290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Poisson regression to estimate the expected number of visits.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7680960" cy="802641"/>
          </a:xfrm>
        </p:spPr>
        <p:txBody>
          <a:bodyPr>
            <a:normAutofit fontScale="90000"/>
          </a:bodyPr>
          <a:lstStyle/>
          <a:p>
            <a:r>
              <a:t>DATASET AT A GLANCE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1520" y="2103120"/>
            <a:ext cx="1810512" cy="96012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130552"/>
            <a:ext cx="1810512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B6CA8"/>
                </a:solidFill>
              </a:rPr>
              <a:t>5,190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633472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</a:rPr>
              <a:t>individuals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70048" y="2103120"/>
            <a:ext cx="1810512" cy="96012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70048" y="2130552"/>
            <a:ext cx="1810512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B6CA8"/>
                </a:solidFill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2633472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</a:rPr>
              <a:t>variables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2103120"/>
            <a:ext cx="1810512" cy="96012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6" y="2130552"/>
            <a:ext cx="1810512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B6CA8"/>
                </a:solidFill>
              </a:rPr>
              <a:t>20.2%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2633472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</a:rPr>
              <a:t>saw a doctor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47104" y="2103120"/>
            <a:ext cx="1810512" cy="96012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47104" y="2130552"/>
            <a:ext cx="1810512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B6CA8"/>
                </a:solidFill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2633472"/>
            <a:ext cx="181051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</a:rPr>
              <a:t>missing values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3246120"/>
          <a:ext cx="758952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</a:tblGrid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visits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Doctor visits in past 2 weeks (0 to 9)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gender, age, income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Sex; age in years/100; annual income in AUD 10,000s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illness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Illnesses in past 2 weeks (0 to 5)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reduced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Days of reduced activity in past 2 weeks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health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General health questionnaire score (higher = worse)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private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Covered by private health insurance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freepoor, freerepat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Free government cover (low income / veterans)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nchronic, lchronic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Chronic condition without / with activity limit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7680960" cy="802641"/>
          </a:xfrm>
        </p:spPr>
        <p:txBody>
          <a:bodyPr>
            <a:normAutofit fontScale="90000"/>
          </a:bodyPr>
          <a:lstStyle/>
          <a:p>
            <a:r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1520" y="2103120"/>
            <a:ext cx="7589520" cy="86868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2263139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139696"/>
            <a:ext cx="26517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Clinic &amp; hospital managers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139696"/>
            <a:ext cx="388620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Plan staffing and appointment capacity around likely demand.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90672"/>
            <a:ext cx="7589520" cy="86868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6112" y="3250691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127248"/>
            <a:ext cx="26517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Health policy makers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127248"/>
            <a:ext cx="388620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Target subsidies and free-care schemes at groups that need them.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78224"/>
            <a:ext cx="7589520" cy="86868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6112" y="4238244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114800"/>
            <a:ext cx="26517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Insurers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114800"/>
            <a:ext cx="388620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Understand how cover type and health status relate to usage.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65776"/>
            <a:ext cx="7589520" cy="86868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6112" y="5225796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102352"/>
            <a:ext cx="265176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Public health researchers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102352"/>
            <a:ext cx="388620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Identify high-need groups such as older and chronically ill people.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7680960" cy="847817"/>
          </a:xfrm>
        </p:spPr>
        <p:txBody>
          <a:bodyPr>
            <a:normAutofit/>
          </a:bodyPr>
          <a:lstStyle/>
          <a:p>
            <a:r>
              <a:t>Technology Used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2011680" y="182880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148840" y="1984248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468880"/>
            <a:ext cx="1874519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Python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926080"/>
            <a:ext cx="187451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Core language for the whole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182880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343400" y="1984248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2468880"/>
            <a:ext cx="1874519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Pandas, NumPy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926080"/>
            <a:ext cx="187451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Data cleaning, encoding, summary statistics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2880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37960" y="1984248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68880"/>
            <a:ext cx="1874519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Matplotlib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26080"/>
            <a:ext cx="187451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Charts and visual exploration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79476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148840" y="3950208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434840"/>
            <a:ext cx="1874519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scikit-learn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892040"/>
            <a:ext cx="187451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Logistic, random forest and Poisson models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379476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343400" y="3950208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79" y="4434840"/>
            <a:ext cx="1874519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Git &amp;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79" y="4892040"/>
            <a:ext cx="187451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Code hosted at Anjali-55555 on GitHub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79476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537960" y="3950208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434840"/>
            <a:ext cx="1874519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CSV dataset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892040"/>
            <a:ext cx="187451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5,190 survey records, 12 columns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680960" cy="830997"/>
          </a:xfrm>
        </p:spPr>
        <p:txBody>
          <a:bodyPr>
            <a:normAutofit/>
          </a:bodyPr>
          <a:lstStyle/>
          <a:p>
            <a:r>
              <a:t>RESULTS: KEY INSIGHTS</a:t>
            </a:r>
            <a:endParaRPr lang="en-IN" dirty="0"/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40080" y="2011680"/>
          <a:ext cx="3749039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4526280" y="2011680"/>
          <a:ext cx="38404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1520" y="4937760"/>
            <a:ext cx="76809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</a:rPr>
              <a:t>Illness is the clearest signal: </a:t>
            </a:r>
            <a:r>
              <a:rPr sz="1300" b="0">
                <a:solidFill>
                  <a:srgbClr val="222222"/>
                </a:solidFill>
              </a:rPr>
              <a:t>visits rise from 0.08 (no illness) to 0.81 (five illnesses).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</a:rPr>
              <a:t>Who visits more: </a:t>
            </a:r>
            <a:r>
              <a:rPr sz="1300" b="0">
                <a:solidFill>
                  <a:srgbClr val="222222"/>
                </a:solidFill>
              </a:rPr>
              <a:t>women (24.4% vs 15.6%), people aged 60+ (28.9%), and those with a limiting chronic condition (35.0%).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35040"/>
            <a:ext cx="7680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55555"/>
                </a:solidFill>
              </a:rPr>
              <a:t>GitHub: </a:t>
            </a:r>
            <a:r>
              <a:rPr sz="1100" b="0">
                <a:solidFill>
                  <a:srgbClr val="555555"/>
                </a:solidFill>
                <a:hlinkClick r:id="rId5"/>
              </a:rPr>
              <a:t>https://github.com/Anjali-55555/healthcare_analysis_for_doctor_visits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680960" cy="830997"/>
          </a:xfrm>
        </p:spPr>
        <p:txBody>
          <a:bodyPr>
            <a:normAutofit fontScale="90000"/>
          </a:bodyPr>
          <a:lstStyle/>
          <a:p>
            <a:r>
              <a:t>RESULTS: MODEL PERFORMANCE</a:t>
            </a:r>
            <a:endParaRPr lang="en-IN" dirty="0"/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40080" y="2057400"/>
          <a:ext cx="39319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754880" y="2103120"/>
          <a:ext cx="3611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914400"/>
                <a:gridCol w="685800"/>
                <a:gridCol w="685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54864" marR="5486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marL="54864" marR="5486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54864" marR="54864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Logistic Regression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72.0%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0.73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0.46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Random Forest</a:t>
                      </a:r>
                    </a:p>
                  </a:txBody>
                  <a:tcPr marL="54864" marR="54864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73.6%</a:t>
                      </a:r>
                    </a:p>
                  </a:txBody>
                  <a:tcPr marL="54864" marR="54864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0.74</a:t>
                      </a:r>
                    </a:p>
                  </a:txBody>
                  <a:tcPr marL="54864" marR="54864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0.47</a:t>
                      </a:r>
                    </a:p>
                  </a:txBody>
                  <a:tcPr marL="54864" marR="54864" anchor="ctr"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754880" y="3657600"/>
            <a:ext cx="361188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</a:rPr>
              <a:t>Target: </a:t>
            </a:r>
            <a:r>
              <a:rPr sz="1250" b="0">
                <a:solidFill>
                  <a:srgbClr val="222222"/>
                </a:solidFill>
              </a:rPr>
              <a:t>did the person visit a doctor (yes/no), 25% test split.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</a:rPr>
              <a:t>Best model: </a:t>
            </a:r>
            <a:r>
              <a:rPr sz="1250" b="0">
                <a:solidFill>
                  <a:srgbClr val="222222"/>
                </a:solidFill>
              </a:rPr>
              <a:t>random forest, about 74% accuracy and 0.74 AUC.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</a:rPr>
              <a:t>Top drivers: </a:t>
            </a:r>
            <a:r>
              <a:rPr sz="1250" b="0">
                <a:solidFill>
                  <a:srgbClr val="222222"/>
                </a:solidFill>
              </a:rPr>
              <a:t>reduced-activity days and recent illnesses.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49240"/>
            <a:ext cx="76809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</a:rPr>
              <a:t>Poisson regression predicts an average of 0.30 visits per person, in line with the observed 0.30.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035040"/>
            <a:ext cx="7680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55555"/>
                </a:solidFill>
              </a:rPr>
              <a:t>GitHub: </a:t>
            </a:r>
            <a:r>
              <a:rPr sz="1100" b="0">
                <a:solidFill>
                  <a:srgbClr val="555555"/>
                </a:solidFill>
                <a:hlinkClick r:id="rId4"/>
              </a:rPr>
              <a:t>https://github.com/Anjali-55555/healthcare_analysis_for_doctor_visits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7680960" cy="830997"/>
          </a:xfrm>
        </p:spPr>
        <p:txBody>
          <a:bodyPr>
            <a:normAutofit/>
          </a:bodyPr>
          <a:lstStyle/>
          <a:p>
            <a:r>
              <a:rPr sz="3200" b="1"/>
              <a:t>Conclusion &amp; Future Scope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2103120"/>
            <a:ext cx="3749039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33832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6CA8"/>
                </a:solidFill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3383280" cy="2926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228600" algn="l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Health need, not wealth alone, drives doctor visits: recent illness and reduced activity are the strongest signals.</a:t>
            </a:r>
          </a:p>
          <a:p>
            <a:pPr marL="228600" indent="-228600" algn="l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Older people, women and those with limiting chronic conditions visit most.</a:t>
            </a:r>
          </a:p>
          <a:p>
            <a:pPr marL="228600" indent="-228600" algn="l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A simple model predicts visits with about 74% accuracy.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103120"/>
            <a:ext cx="3749039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2194560"/>
            <a:ext cx="33832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9E5B"/>
                </a:solidFill>
              </a:rP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43200"/>
            <a:ext cx="3383280" cy="2926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228600" algn="l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Try gradient boosting and tune hyperparameters.</a:t>
            </a:r>
          </a:p>
          <a:p>
            <a:pPr marL="228600" indent="-228600" algn="l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Use newer, larger health survey data.</a:t>
            </a:r>
          </a:p>
          <a:p>
            <a:pPr marL="228600" indent="-228600" algn="l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Build a dashboard for planners to explore visit risk.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011680" y="2468880"/>
            <a:ext cx="603504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</a:rPr>
              <a:t>Healthcare Analytics for Doctor Visits_TIRTC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3566160"/>
            <a:ext cx="60350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Questions and discussion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4114800"/>
            <a:ext cx="6035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</a:rPr>
              <a:t>Code and dataset on GitHub: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4480560"/>
            <a:ext cx="7498079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B6CA8"/>
                </a:solidFill>
                <a:hlinkClick r:id="rId3"/>
              </a:rPr>
              <a:t>https://github.com/Anjali-55555/healthcare_analysis_for_doctor_visits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551</TotalTime>
  <Words>671</Words>
  <Application>Microsoft Office PowerPoint</Application>
  <PresentationFormat>Custom</PresentationFormat>
  <Paragraphs>122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Facet</vt:lpstr>
      <vt:lpstr>Healthcare Analytics for Doctor Visits_TIRTC</vt:lpstr>
      <vt:lpstr>PROBLEM  STATEMENT</vt:lpstr>
      <vt:lpstr>Project Description</vt:lpstr>
      <vt:lpstr>DATASET AT A GLANCE</vt:lpstr>
      <vt:lpstr>WHO ARE THE END USERS?</vt:lpstr>
      <vt:lpstr>Technology Used</vt:lpstr>
      <vt:lpstr>RESULTS: KEY INSIGHTS</vt:lpstr>
      <vt:lpstr>RESULTS: MODEL PERFORMANCE</vt:lpstr>
      <vt:lpstr>Conclusion &amp; Future Scope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user</cp:lastModifiedBy>
  <cp:revision>74</cp:revision>
  <dcterms:created xsi:type="dcterms:W3CDTF">2021-07-11T13:13:15Z</dcterms:created>
  <dcterms:modified xsi:type="dcterms:W3CDTF">2026-10-01T01:42:44Z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