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41" r:id="rId24"/>
    <p:sldId id="329" r:id="rId8"/>
    <p:sldId id="302" r:id="rId9"/>
    <p:sldId id="339" r:id="rId10"/>
    <p:sldId id="340" r:id="rId23"/>
    <p:sldId id="342" r:id="rId25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2" Type="http://schemas.microsoft.com/office/2015/10/relationships/revisionInfo" Target="revisionInfo.xml"/><Relationship Id="rId23" Type="http://schemas.openxmlformats.org/officeDocument/2006/relationships/slide" Target="slides/slide8.xml"/><Relationship Id="rId24" Type="http://schemas.openxmlformats.org/officeDocument/2006/relationships/slide" Target="slides/slide4.xml"/><Relationship Id="rId2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22222"/>
                </a:solidFill>
              </a:rPr>
              <a:t>Avg visits by no. of recent illnesses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visits</c:v>
                </c:pt>
              </c:strCache>
            </c:strRef>
          </c:tx>
          <c:spPr>
            <a:solidFill>
              <a:srgbClr val="1B6CA8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0.08</c:v>
                </c:pt>
                <c:pt idx="1">
                  <c:v>0.3</c:v>
                </c:pt>
                <c:pt idx="2">
                  <c:v>0.4</c:v>
                </c:pt>
                <c:pt idx="3">
                  <c:v>0.42</c:v>
                </c:pt>
                <c:pt idx="4">
                  <c:v>0.58</c:v>
                </c:pt>
                <c:pt idx="5">
                  <c:v>0.81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22222"/>
                </a:solidFill>
              </a:rPr>
              <a:t>% who saw a doctor, by group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visited</c:v>
                </c:pt>
              </c:strCache>
            </c:strRef>
          </c:tx>
          <c:spPr>
            <a:solidFill>
              <a:srgbClr val="2E9E5B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Female</c:v>
                </c:pt>
                <c:pt idx="1">
                  <c:v>Male</c:v>
                </c:pt>
                <c:pt idx="2">
                  <c:v>Age 60+</c:v>
                </c:pt>
                <c:pt idx="3">
                  <c:v>Age under 25</c:v>
                </c:pt>
                <c:pt idx="4">
                  <c:v>Limiting chronic</c:v>
                </c:pt>
                <c:pt idx="5">
                  <c:v>Free (veterans)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24.4</c:v>
                </c:pt>
                <c:pt idx="1">
                  <c:v>15.6</c:v>
                </c:pt>
                <c:pt idx="2">
                  <c:v>28.9</c:v>
                </c:pt>
                <c:pt idx="3">
                  <c:v>14.7</c:v>
                </c:pt>
                <c:pt idx="4">
                  <c:v>35.0</c:v>
                </c:pt>
                <c:pt idx="5">
                  <c:v>31.6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22222"/>
                </a:solidFill>
              </a:rPr>
              <a:t>Random forest: top predictors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B6CA8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Reduced-activity days</c:v>
                </c:pt>
                <c:pt idx="1">
                  <c:v>Recent illnesses</c:v>
                </c:pt>
                <c:pt idx="2">
                  <c:v>Age</c:v>
                </c:pt>
                <c:pt idx="3">
                  <c:v>Health score</c:v>
                </c:pt>
                <c:pt idx="4">
                  <c:v>Income</c:v>
                </c:pt>
                <c:pt idx="5">
                  <c:v>Gender</c:v>
                </c:pt>
                <c:pt idx="6">
                  <c:v>Limiting chronic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0.338</c:v>
                </c:pt>
                <c:pt idx="1">
                  <c:v>0.233</c:v>
                </c:pt>
                <c:pt idx="2">
                  <c:v>0.121</c:v>
                </c:pt>
                <c:pt idx="3">
                  <c:v>0.082</c:v>
                </c:pt>
                <c:pt idx="4">
                  <c:v>0.068</c:v>
                </c:pt>
                <c:pt idx="5">
                  <c:v>0.039</c:v>
                </c:pt>
                <c:pt idx="6">
                  <c:v>0.033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999999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222222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12/29/2023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3931920"/>
            <a:ext cx="3383280" cy="411480"/>
          </a:xfrm>
        </p:spPr>
        <p:txBody>
          <a:bodyPr/>
          <a:lstStyle/>
          <a:p>
            <a:pPr algn="l"/>
            <a:r>
              <a:rPr sz="1600" b="0"/>
              <a:t>Mini Project Submission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0" y="1737360"/>
            <a:ext cx="3383280" cy="1920240"/>
          </a:xfrm>
        </p:spPr>
        <p:txBody>
          <a:bodyPr wrap="square">
            <a:normAutofit/>
          </a:bodyPr>
          <a:lstStyle/>
          <a:p>
            <a:r>
              <a:rPr sz="2600" b="1"/>
              <a:t>Healthcare Analytics for Doctor Visits_TIRTC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09360" y="4389120"/>
            <a:ext cx="3383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Submitted by: Your Name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555"/>
                </a:solidFill>
              </a:rPr>
              <a:t>Roll No: ________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7680960" cy="790111"/>
          </a:xfrm>
        </p:spPr>
        <p:txBody>
          <a:bodyPr>
            <a:normAutofit fontScale="90000"/>
          </a:bodyPr>
          <a:lstStyle/>
          <a:p>
            <a:r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777240" y="2176272"/>
            <a:ext cx="347472" cy="347472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103120"/>
            <a:ext cx="5486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Uneven demand. </a:t>
            </a:r>
            <a:r>
              <a:rPr sz="1600" b="0">
                <a:solidFill>
                  <a:srgbClr val="222222"/>
                </a:solidFill>
              </a:rPr>
              <a:t>Only 20.2% of the 5,190 people surveyed saw a doctor in the past two weeks, so visits are concentrated in a small group.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3456432"/>
            <a:ext cx="347472" cy="347472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383279"/>
            <a:ext cx="5486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Unclear drivers. </a:t>
            </a:r>
            <a:r>
              <a:rPr sz="1600" b="0">
                <a:solidFill>
                  <a:srgbClr val="222222"/>
                </a:solidFill>
              </a:rPr>
              <a:t>Planners cannot easily tell how age, income, recent illness, insurance and chronic conditions each affect who visits.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4736592"/>
            <a:ext cx="347472" cy="347472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5486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22222"/>
                </a:solidFill>
              </a:rPr>
              <a:t>Our goal. </a:t>
            </a:r>
            <a:r>
              <a:rPr sz="1600" b="0">
                <a:solidFill>
                  <a:srgbClr val="222222"/>
                </a:solidFill>
              </a:rPr>
              <a:t>Analyse the survey data, find the key drivers of doctor visits, and predict who is likely to visit.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7680960" cy="830997"/>
          </a:xfrm>
        </p:spPr>
        <p:txBody>
          <a:bodyPr>
            <a:normAutofit fontScale="90000"/>
          </a:bodyPr>
          <a:lstStyle/>
          <a:p>
            <a:r>
              <a:rPr sz="3200" b="1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2011680"/>
            <a:ext cx="58521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Analysis of the Australian Health Survey 1977-78 (the DoctorVisits dataset): 5,190 individuals, 12 variables, no missing values. We explore visit patterns and build models that predict whether a person visits a doctor.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319272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264408"/>
            <a:ext cx="3063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3429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Dropped the index column and encoded gender and the yes/no flags as 0/1.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15468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00600" y="3319272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264408"/>
            <a:ext cx="3063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Exploratory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94760"/>
            <a:ext cx="3429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Compared visit rates by age, income, illness, insurance and chronic condition.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828031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73168"/>
            <a:ext cx="3063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Predictive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03520"/>
            <a:ext cx="3429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Logistic regression and random forest on a 75/25 train-test split.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663440"/>
            <a:ext cx="3749039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00600" y="4828031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4773168"/>
            <a:ext cx="306324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Visit-count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5303520"/>
            <a:ext cx="34290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Poisson regression to estimate the expected number of visits.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7680960" cy="802641"/>
          </a:xfrm>
        </p:spPr>
        <p:txBody>
          <a:bodyPr>
            <a:normAutofit/>
          </a:bodyPr>
          <a:lstStyle/>
          <a:p>
            <a:r>
              <a:t>DATASET AT A GLANCE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130552"/>
            <a:ext cx="181051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5,190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33472"/>
            <a:ext cx="181051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individuals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70048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70048" y="2130552"/>
            <a:ext cx="181051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2633472"/>
            <a:ext cx="181051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variables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2130552"/>
            <a:ext cx="181051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20.2%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2633472"/>
            <a:ext cx="181051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saw a doctor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47104" y="2103120"/>
            <a:ext cx="1810512" cy="96012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130552"/>
            <a:ext cx="1810512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1B6CA8"/>
                </a:solidFill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47104" y="2633472"/>
            <a:ext cx="181051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</a:rPr>
              <a:t>missing values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" y="3246120"/>
          <a:ext cx="758952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486400"/>
              </a:tblGrid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visits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Doctor visits in past 2 weeks (0 to 9)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gender, age, income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Sex; age in years/100; annual income in AUD 10,000s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illness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Illnesses in past 2 weeks (0 to 5)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reduced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Days of reduced activity in past 2 weeks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health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General health questionnaire score (higher = worse)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private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Covered by private health insurance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freepoor, freerepat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Free government cover (low income / veterans)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22222"/>
                          </a:solidFill>
                        </a:rPr>
                        <a:t>nchronic, lchronic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Chronic condition without / with activity limit</a:t>
                      </a:r>
                    </a:p>
                  </a:txBody>
                  <a:tcPr marT="27432" marB="27432" anchor="ctr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7680960" cy="802641"/>
          </a:xfrm>
        </p:spPr>
        <p:txBody>
          <a:bodyPr>
            <a:normAutofit/>
          </a:bodyPr>
          <a:lstStyle/>
          <a:p>
            <a: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2103120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96112" y="2263139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2139696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Clinic &amp; hospital managers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139696"/>
            <a:ext cx="3886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Plan staffing and appointment capacity around likely demand.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90672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6112" y="3250691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127248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Health policy makers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127248"/>
            <a:ext cx="3886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Target subsidies and free-care schemes at groups that need them.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78224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4238244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114800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Insurers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114800"/>
            <a:ext cx="3886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Understand how cover type and health status relate to usage.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065776"/>
            <a:ext cx="7589520" cy="868680"/>
          </a:xfrm>
          <a:prstGeom prst="roundRect">
            <a:avLst>
              <a:gd name="adj" fmla="val 7000"/>
            </a:avLst>
          </a:prstGeom>
          <a:solidFill>
            <a:srgbClr val="EA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6112" y="5225796"/>
            <a:ext cx="548640" cy="54864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102352"/>
            <a:ext cx="265176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4E79"/>
                </a:solidFill>
              </a:rPr>
              <a:t>Public health researchers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102352"/>
            <a:ext cx="388620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Identify high-need groups such as older and chronically ill people.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7680960" cy="847817"/>
          </a:xfrm>
        </p:spPr>
        <p:txBody>
          <a:bodyPr>
            <a:normAutofit/>
          </a:bodyPr>
          <a:lstStyle/>
          <a:p>
            <a:r>
              <a:t>Technology Used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2011680" y="182880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48840" y="198424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46888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Python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2608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Core language for the whole analysis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82880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43400" y="198424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46888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Pandas, NumPy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79" y="292608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Data cleaning, encoding, summary statistics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2880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7960" y="198424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6888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Matplotlib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2608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Charts and visual exploration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79476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48840" y="395020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scikit-learn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8920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Logistic, random forest and Poisson models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379476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343400" y="3950208"/>
            <a:ext cx="365760" cy="36576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79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Git &amp; GitHub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79" y="48920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Version control and project hosting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794760"/>
            <a:ext cx="2057400" cy="1783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37960" y="3950208"/>
            <a:ext cx="365760" cy="3657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434840"/>
            <a:ext cx="1874519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</a:rPr>
              <a:t>CSV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892040"/>
            <a:ext cx="1874519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5,190 survey records, 12 columns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680960" cy="830997"/>
          </a:xfrm>
        </p:spPr>
        <p:txBody>
          <a:bodyPr>
            <a:normAutofit/>
          </a:bodyPr>
          <a:lstStyle/>
          <a:p>
            <a:r>
              <a:t>RESULTS: KEY INSIGHTS</a:t>
            </a:r>
            <a:endParaRPr lang="en-IN" dirty="0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40080" y="2057400"/>
          <a:ext cx="3749039" cy="30175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526280" y="2057400"/>
          <a:ext cx="3840480" cy="30175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31520" y="5166360"/>
            <a:ext cx="768096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Illness is the clearest signal: </a:t>
            </a:r>
            <a:r>
              <a:rPr sz="1300" b="0">
                <a:solidFill>
                  <a:srgbClr val="222222"/>
                </a:solidFill>
              </a:rPr>
              <a:t>visits rise from 0.08 (no illness) to 0.81 (five illnesses).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</a:rPr>
              <a:t>Who visits more: </a:t>
            </a:r>
            <a:r>
              <a:rPr sz="1300" b="0">
                <a:solidFill>
                  <a:srgbClr val="222222"/>
                </a:solidFill>
              </a:rPr>
              <a:t>women (24.4% vs 15.6%), people aged 60+ (28.9%), and those with a limiting chronic condition (35.0%).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7680960" cy="830997"/>
          </a:xfrm>
        </p:spPr>
        <p:txBody>
          <a:bodyPr>
            <a:normAutofit/>
          </a:bodyPr>
          <a:lstStyle/>
          <a:p>
            <a:r>
              <a:t>RESULTS: MODEL PERFORMANCE</a:t>
            </a:r>
            <a:endParaRPr lang="en-IN" dirty="0"/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640080" y="2057400"/>
          <a:ext cx="393192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754880" y="2103120"/>
          <a:ext cx="3611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14400"/>
                <a:gridCol w="685800"/>
                <a:gridCol w="6858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anchor="ctr" marL="54864" marR="54864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Logistic Regression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72.0%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0.73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0.46</a:t>
                      </a:r>
                    </a:p>
                  </a:txBody>
                  <a:tcPr anchor="ctr" marL="54864" marR="54864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22222"/>
                          </a:solidFill>
                        </a:rPr>
                        <a:t>Random Forest</a:t>
                      </a:r>
                    </a:p>
                  </a:txBody>
                  <a:tcPr anchor="ctr" marL="54864" marR="54864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73.6%</a:t>
                      </a:r>
                    </a:p>
                  </a:txBody>
                  <a:tcPr anchor="ctr" marL="54864" marR="54864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0.74</a:t>
                      </a:r>
                    </a:p>
                  </a:txBody>
                  <a:tcPr anchor="ctr" marL="54864" marR="54864"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</a:rPr>
                        <a:t>0.47</a:t>
                      </a:r>
                    </a:p>
                  </a:txBody>
                  <a:tcPr anchor="ctr" marL="54864" marR="54864">
                    <a:solidFill>
                      <a:srgbClr val="EAF3FA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754880" y="3657600"/>
            <a:ext cx="361188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</a:rPr>
              <a:t>Target: </a:t>
            </a:r>
            <a:r>
              <a:rPr sz="1250" b="0">
                <a:solidFill>
                  <a:srgbClr val="222222"/>
                </a:solidFill>
              </a:rPr>
              <a:t>did the person visit a doctor (yes/no), 25% test split.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</a:rPr>
              <a:t>Best model: </a:t>
            </a:r>
            <a:r>
              <a:rPr sz="1250" b="0">
                <a:solidFill>
                  <a:srgbClr val="222222"/>
                </a:solidFill>
              </a:rPr>
              <a:t>random forest, about 74% accuracy and 0.74 AUC.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222222"/>
                </a:solidFill>
              </a:rPr>
              <a:t>Top drivers: </a:t>
            </a:r>
            <a:r>
              <a:rPr sz="1250" b="0">
                <a:solidFill>
                  <a:srgbClr val="222222"/>
                </a:solidFill>
              </a:rPr>
              <a:t>reduced-activity days and recent illnesses.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440680"/>
            <a:ext cx="76809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</a:rPr>
              <a:t>Poisson regression predicts an average of 0.30 visits per person, in line with the observed 0.30.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7680960" cy="830997"/>
          </a:xfrm>
        </p:spPr>
        <p:txBody>
          <a:bodyPr>
            <a:normAutofit fontScale="90000"/>
          </a:bodyPr>
          <a:lstStyle/>
          <a:p>
            <a:r>
              <a:rPr sz="3200" b="1"/>
              <a:t>Conclusion &amp; Future Scope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2103120"/>
            <a:ext cx="374903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6CA8"/>
                </a:solidFill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Health need, not wealth alone, drives doctor visits: recent illness and reduced activity are the strongest signals.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Older people, women and those with limiting chronic conditions visit most.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A simple model predicts visits with about 74% accuracy.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103120"/>
            <a:ext cx="3749039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9D9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194560"/>
            <a:ext cx="33832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9E5B"/>
                </a:solidFill>
              </a:rPr>
              <a:t>Future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743200"/>
            <a:ext cx="3383280" cy="2926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Try gradient boosting and tune hyperparameters.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Use newer, larger health survey data.</a:t>
            </a:r>
          </a:p>
          <a:p>
            <a:pPr algn="l" marL="228600" indent="-228600">
              <a:spcAft>
                <a:spcPts val="1000"/>
              </a:spcAft>
              <a:buChar char="•"/>
            </a:pPr>
            <a:r>
              <a:rPr sz="1400" b="0">
                <a:solidFill>
                  <a:srgbClr val="222222"/>
                </a:solidFill>
              </a:rPr>
              <a:t>Build a dashboard for planners to explore visit risk.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011680" y="2468880"/>
            <a:ext cx="6035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</a:rPr>
              <a:t>Healthcare Analytics for Doctor Visits_TIRTC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3566160"/>
            <a:ext cx="6035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Questions and discussion</a:t>
            </a:r>
          </a:p>
          <a:p>
            <a:pPr algn="ctr"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</a:rPr>
              <a:t>Code and dataset: GitHub repository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73</cp:revision>
  <dcterms:created xsi:type="dcterms:W3CDTF">2021-07-11T13:13:15Z</dcterms:created>
  <dcterms:modified xsi:type="dcterms:W3CDTF">2023-12-29T05:01:43Z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